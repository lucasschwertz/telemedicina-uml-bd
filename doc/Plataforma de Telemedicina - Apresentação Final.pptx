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5"/>
  </p:notesMasterIdLst>
  <p:handoutMasterIdLst>
    <p:handoutMasterId r:id="rId16"/>
  </p:handoutMasterIdLst>
  <p:sldIdLst>
    <p:sldId id="278" r:id="rId5"/>
    <p:sldId id="282" r:id="rId6"/>
    <p:sldId id="293" r:id="rId7"/>
    <p:sldId id="283" r:id="rId8"/>
    <p:sldId id="294" r:id="rId9"/>
    <p:sldId id="284" r:id="rId10"/>
    <p:sldId id="286" r:id="rId11"/>
    <p:sldId id="287" r:id="rId12"/>
    <p:sldId id="288" r:id="rId13"/>
    <p:sldId id="292" r:id="rId1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FCF5D6B5-35B7-4285-9A4D-92ED5F34F328}" type="datetime1">
              <a:rPr lang="pt-BR" smtClean="0"/>
              <a:t>06/06/2026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CFA70580-B89C-4157-871D-6B9318EE5F5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4CFF1DF4-D409-4130-8A44-0FEC7A586139}" type="datetime1">
              <a:rPr lang="pt-BR" smtClean="0"/>
              <a:pPr/>
              <a:t>06/06/2026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7AF00E9-A49D-4007-B3B9-A3783809E50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904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8711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 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v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v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v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v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3" name="Forma Liv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8" name="Espaço Reservado para Imagem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v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v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v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pt-BR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údo + image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pt-BR" sz="1800">
                <a:solidFill>
                  <a:schemeClr val="tx1"/>
                </a:solidFill>
              </a:defRPr>
            </a:lvl1pPr>
            <a:lvl2pPr algn="r">
              <a:defRPr lang="pt-BR" sz="1200">
                <a:solidFill>
                  <a:schemeClr val="tx1"/>
                </a:solidFill>
              </a:defRPr>
            </a:lvl2pPr>
            <a:lvl3pPr algn="r">
              <a:defRPr lang="pt-BR" sz="1200">
                <a:solidFill>
                  <a:schemeClr val="tx1"/>
                </a:solidFill>
              </a:defRPr>
            </a:lvl3pPr>
            <a:lvl4pPr algn="r">
              <a:defRPr lang="pt-BR" sz="1200">
                <a:solidFill>
                  <a:schemeClr val="tx1"/>
                </a:solidFill>
              </a:defRPr>
            </a:lvl4pPr>
            <a:lvl5pPr algn="r"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v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Forma liv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pt-BR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v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pt-BR" sz="6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7" r:id="rId3"/>
    <p:sldLayoutId id="2147483703" r:id="rId4"/>
    <p:sldLayoutId id="2147483704" r:id="rId5"/>
    <p:sldLayoutId id="2147483699" r:id="rId6"/>
    <p:sldLayoutId id="2147483688" r:id="rId7"/>
    <p:sldLayoutId id="2147483686" r:id="rId8"/>
    <p:sldLayoutId id="214748368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Plataforma de Telemedicina</a:t>
            </a:r>
            <a:br>
              <a:rPr lang="pt-BR" dirty="0"/>
            </a:br>
            <a:br>
              <a:rPr lang="pt-BR" dirty="0"/>
            </a:br>
            <a:r>
              <a:rPr lang="pt-BR" sz="2800" dirty="0"/>
              <a:t>Práticas Extensionistas III</a:t>
            </a:r>
            <a:br>
              <a:rPr lang="pt-BR" sz="2800" dirty="0"/>
            </a:br>
            <a:r>
              <a:rPr lang="pt-BR" sz="2800" dirty="0"/>
              <a:t>Entrega Final do Projeto</a:t>
            </a:r>
            <a:br>
              <a:rPr lang="pt-BR" sz="2800" dirty="0"/>
            </a:br>
            <a:br>
              <a:rPr lang="pt-BR" sz="2800" dirty="0"/>
            </a:br>
            <a:r>
              <a:rPr lang="pt-BR" sz="1600" dirty="0"/>
              <a:t>Lucas Schwertz</a:t>
            </a:r>
            <a:br>
              <a:rPr lang="pt-BR" sz="1600" dirty="0"/>
            </a:br>
            <a:r>
              <a:rPr lang="pt-BR" sz="1600" dirty="0"/>
              <a:t>Análise e Desenvolvimento de Sistemas - UNOESC</a:t>
            </a:r>
            <a:br>
              <a:rPr lang="pt-BR" sz="1600" dirty="0"/>
            </a:br>
            <a:r>
              <a:rPr lang="pt-BR" sz="1600" dirty="0"/>
              <a:t>2026</a:t>
            </a:r>
            <a:endParaRPr lang="pt-BR" sz="2800" dirty="0"/>
          </a:p>
        </p:txBody>
      </p:sp>
      <p:pic>
        <p:nvPicPr>
          <p:cNvPr id="8" name="Espaço Reservado para Imagem 13" descr="Tela de fundo digital de pontos de dad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  <p:pic>
        <p:nvPicPr>
          <p:cNvPr id="3" name="Gráfico 2" descr="Médico com preenchimento sólido">
            <a:extLst>
              <a:ext uri="{FF2B5EF4-FFF2-40B4-BE49-F238E27FC236}">
                <a16:creationId xmlns:a16="http://schemas.microsoft.com/office/drawing/2014/main" id="{A4E5EE07-B524-4832-A6B6-7572E67DD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28062" y="205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5"/>
            <a:ext cx="11090275" cy="6366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Problema Identificado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236176"/>
            <a:ext cx="7526337" cy="497636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O acesso aos serviços médicos ainda apresenta desafios para muitos pacientes, principalmente quando há necessidade de agendamento rápido e acompanhamento remoto.</a:t>
            </a:r>
          </a:p>
          <a:p>
            <a:pPr rtl="0"/>
            <a:r>
              <a:rPr lang="pt-BR" dirty="0"/>
              <a:t>Entre os principais problemas identificados estão:</a:t>
            </a:r>
          </a:p>
          <a:p>
            <a:pPr rtl="0"/>
            <a:r>
              <a:rPr lang="pt-BR" dirty="0"/>
              <a:t>• Dificuldade para agendar consultas de forma prática;</a:t>
            </a:r>
          </a:p>
          <a:p>
            <a:pPr rtl="0"/>
            <a:r>
              <a:rPr lang="pt-BR" dirty="0"/>
              <a:t>• Falta de centralização das informações dos pacientes;</a:t>
            </a:r>
          </a:p>
          <a:p>
            <a:pPr rtl="0"/>
            <a:r>
              <a:rPr lang="pt-BR" dirty="0"/>
              <a:t>• Necessidade de acesso remoto aos serviços médicos;</a:t>
            </a:r>
          </a:p>
          <a:p>
            <a:pPr rtl="0"/>
            <a:r>
              <a:rPr lang="pt-BR" dirty="0"/>
              <a:t>• Controle limitado do histórico de atendimentos;</a:t>
            </a:r>
          </a:p>
          <a:p>
            <a:pPr rtl="0"/>
            <a:r>
              <a:rPr lang="pt-BR" dirty="0"/>
              <a:t>• Comunicação pouco eficiente entre pacientes e profissionais.</a:t>
            </a:r>
          </a:p>
        </p:txBody>
      </p:sp>
      <p:pic>
        <p:nvPicPr>
          <p:cNvPr id="1028" name="Picture 4" descr="Telemedicina - ícones de comunicações grátis">
            <a:extLst>
              <a:ext uri="{FF2B5EF4-FFF2-40B4-BE49-F238E27FC236}">
                <a16:creationId xmlns:a16="http://schemas.microsoft.com/office/drawing/2014/main" id="{BE90AEB8-DFD1-484B-A89F-43AEAE828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258" y="483925"/>
            <a:ext cx="3845859" cy="384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elemedicina - ícones de comunicações grátis">
            <a:extLst>
              <a:ext uri="{FF2B5EF4-FFF2-40B4-BE49-F238E27FC236}">
                <a16:creationId xmlns:a16="http://schemas.microsoft.com/office/drawing/2014/main" id="{151A567F-00F6-471A-9806-FAA4C5D34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235" y="1982153"/>
            <a:ext cx="3639671" cy="363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61195"/>
            <a:ext cx="11090275" cy="6366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Solução Proposta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236176"/>
            <a:ext cx="7526337" cy="4976365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Para solucionar os problemas identificados, foi desenvolvida uma Plataforma de Telemedicina com foco na organização e gestão dos atendimentos médicos.</a:t>
            </a:r>
          </a:p>
          <a:p>
            <a:pPr rtl="0"/>
            <a:r>
              <a:rPr lang="pt-BR" dirty="0"/>
              <a:t>A solução permite:</a:t>
            </a:r>
          </a:p>
          <a:p>
            <a:pPr rtl="0"/>
            <a:r>
              <a:rPr lang="pt-BR" dirty="0"/>
              <a:t>• Cadastro e gerenciamento de pacientes;</a:t>
            </a:r>
          </a:p>
          <a:p>
            <a:pPr rtl="0"/>
            <a:r>
              <a:rPr lang="pt-BR" dirty="0"/>
              <a:t>• Cadastro e gerenciamento de médicos;</a:t>
            </a:r>
          </a:p>
          <a:p>
            <a:pPr rtl="0"/>
            <a:r>
              <a:rPr lang="pt-BR" dirty="0"/>
              <a:t>• Agendamento e controle de consultas;</a:t>
            </a:r>
          </a:p>
          <a:p>
            <a:pPr rtl="0"/>
            <a:r>
              <a:rPr lang="pt-BR" dirty="0"/>
              <a:t>• Registro de prontuários;</a:t>
            </a:r>
          </a:p>
          <a:p>
            <a:pPr rtl="0"/>
            <a:r>
              <a:rPr lang="pt-BR" dirty="0"/>
              <a:t>• Autenticação e controle de acesso de usuários;</a:t>
            </a:r>
          </a:p>
          <a:p>
            <a:pPr rtl="0"/>
            <a:r>
              <a:rPr lang="pt-BR" dirty="0"/>
              <a:t>• Centralização das informações em um único ambiente.</a:t>
            </a:r>
          </a:p>
          <a:p>
            <a:pPr rtl="0"/>
            <a:r>
              <a:rPr lang="pt-BR" dirty="0"/>
              <a:t>O objetivo é proporcionar mais praticidade, organização e acessibilidade aos serviços de saúde.</a:t>
            </a:r>
          </a:p>
        </p:txBody>
      </p:sp>
      <p:pic>
        <p:nvPicPr>
          <p:cNvPr id="2050" name="Picture 2" descr="Como o Power BI Transforma a Gestão de Dados Clínicos e Melhora a  Eficiência em Instituições de Saúde - BI por Luiz Farias">
            <a:extLst>
              <a:ext uri="{FF2B5EF4-FFF2-40B4-BE49-F238E27FC236}">
                <a16:creationId xmlns:a16="http://schemas.microsoft.com/office/drawing/2014/main" id="{14372808-1CD5-403B-AF5A-124FAF9AF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942" y="1801906"/>
            <a:ext cx="6263340" cy="352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420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1945665"/>
          </a:xfrm>
          <a:noFill/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Estrutura do Banco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2788024"/>
            <a:ext cx="4827961" cy="3092823"/>
          </a:xfrm>
          <a:noFill/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1400" dirty="0"/>
              <a:t>O banco de dados foi modelado para suportar o gerenciamento completo da plataforma de telemedicina.</a:t>
            </a:r>
          </a:p>
          <a:p>
            <a:pPr rtl="0"/>
            <a:r>
              <a:rPr lang="pt-BR" sz="1400" dirty="0"/>
              <a:t>As entidades principais são:</a:t>
            </a:r>
          </a:p>
          <a:p>
            <a:pPr rtl="0"/>
            <a:r>
              <a:rPr lang="pt-BR" sz="1400" dirty="0"/>
              <a:t>• Usuários</a:t>
            </a:r>
          </a:p>
          <a:p>
            <a:pPr rtl="0"/>
            <a:r>
              <a:rPr lang="pt-BR" sz="1400" dirty="0"/>
              <a:t>• Pacientes</a:t>
            </a:r>
          </a:p>
          <a:p>
            <a:pPr rtl="0"/>
            <a:r>
              <a:rPr lang="pt-BR" sz="1400" dirty="0"/>
              <a:t>• Médicos</a:t>
            </a:r>
          </a:p>
          <a:p>
            <a:pPr rtl="0"/>
            <a:r>
              <a:rPr lang="pt-BR" sz="1400" dirty="0"/>
              <a:t>• Consultas</a:t>
            </a:r>
          </a:p>
          <a:p>
            <a:pPr rtl="0"/>
            <a:r>
              <a:rPr lang="pt-BR" sz="1400" dirty="0"/>
              <a:t>• Prontuários</a:t>
            </a:r>
          </a:p>
          <a:p>
            <a:pPr rtl="0"/>
            <a:r>
              <a:rPr lang="pt-BR" sz="1400" dirty="0"/>
              <a:t>Os relacionamentos garantem a integridade e organização das informações do sistema.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B6376D2-FE2C-4761-B319-7EDB435673F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16015" y="196899"/>
            <a:ext cx="5079514" cy="652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1945665"/>
          </a:xfrm>
          <a:noFill/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Diagrama de Caso de Uso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2788024"/>
            <a:ext cx="4827961" cy="3092823"/>
          </a:xfrm>
          <a:noFill/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1400" dirty="0"/>
              <a:t>O diagrama de caso de uso apresenta as principais interações entre os usuários e a plataforma de telemedicina.</a:t>
            </a:r>
          </a:p>
          <a:p>
            <a:pPr rtl="0"/>
            <a:r>
              <a:rPr lang="pt-BR" sz="1400" dirty="0"/>
              <a:t>Principais funcionalidades:</a:t>
            </a:r>
          </a:p>
          <a:p>
            <a:pPr rtl="0"/>
            <a:r>
              <a:rPr lang="pt-BR" sz="1400" dirty="0"/>
              <a:t>• Realizar login</a:t>
            </a:r>
          </a:p>
          <a:p>
            <a:pPr rtl="0"/>
            <a:r>
              <a:rPr lang="pt-BR" sz="1400" dirty="0"/>
              <a:t>• Buscar médico</a:t>
            </a:r>
          </a:p>
          <a:p>
            <a:pPr rtl="0"/>
            <a:r>
              <a:rPr lang="pt-BR" sz="1400" dirty="0"/>
              <a:t>• Consultar horários</a:t>
            </a:r>
          </a:p>
          <a:p>
            <a:pPr rtl="0"/>
            <a:r>
              <a:rPr lang="pt-BR" sz="1400" dirty="0"/>
              <a:t>• Agendar consulta</a:t>
            </a:r>
          </a:p>
          <a:p>
            <a:pPr rtl="0"/>
            <a:r>
              <a:rPr lang="pt-BR" sz="1400" dirty="0"/>
              <a:t>• Confirmar consulta</a:t>
            </a:r>
          </a:p>
          <a:p>
            <a:pPr rtl="0"/>
            <a:r>
              <a:rPr lang="pt-BR" sz="1400" dirty="0"/>
              <a:t>• Realizar atendimento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BBF5FF-6C6B-41CA-A3BB-AA4C61DE19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53318" y="1524000"/>
            <a:ext cx="6660775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4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215974"/>
            <a:ext cx="7960421" cy="5593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Funcionalidades da Plataforma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3" y="1147483"/>
            <a:ext cx="7929940" cy="4935182"/>
          </a:xfrm>
        </p:spPr>
        <p:txBody>
          <a:bodyPr rtlCol="0">
            <a:normAutofit fontScale="92500" lnSpcReduction="10000"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dirty="0"/>
              <a:t>A plataforma de telemedicina desenvolvida contempla as principais funcionalidades necessárias para o gerenciamento dos atendimentos médicos.</a:t>
            </a:r>
          </a:p>
          <a:p>
            <a:pPr marL="0" indent="0" rtl="0">
              <a:buNone/>
            </a:pPr>
            <a:r>
              <a:rPr lang="pt-BR" dirty="0"/>
              <a:t>Funcionalidades implementadas:</a:t>
            </a:r>
          </a:p>
          <a:p>
            <a:pPr marL="0" indent="0" rtl="0">
              <a:buNone/>
            </a:pPr>
            <a:r>
              <a:rPr lang="pt-BR" dirty="0"/>
              <a:t>• Autenticação de usuários</a:t>
            </a:r>
          </a:p>
          <a:p>
            <a:pPr marL="0" indent="0" rtl="0">
              <a:buNone/>
            </a:pPr>
            <a:r>
              <a:rPr lang="pt-BR" dirty="0"/>
              <a:t>• Cadastro de pacientes</a:t>
            </a:r>
          </a:p>
          <a:p>
            <a:pPr marL="0" indent="0" rtl="0">
              <a:buNone/>
            </a:pPr>
            <a:r>
              <a:rPr lang="pt-BR" dirty="0"/>
              <a:t>• Consulta de pacientes</a:t>
            </a:r>
          </a:p>
          <a:p>
            <a:pPr marL="0" indent="0" rtl="0">
              <a:buNone/>
            </a:pPr>
            <a:r>
              <a:rPr lang="pt-BR" dirty="0"/>
              <a:t>• Atualização de registros</a:t>
            </a:r>
          </a:p>
          <a:p>
            <a:pPr marL="0" indent="0" rtl="0">
              <a:buNone/>
            </a:pPr>
            <a:r>
              <a:rPr lang="pt-BR" dirty="0"/>
              <a:t>• Exclusão de registros</a:t>
            </a:r>
          </a:p>
          <a:p>
            <a:pPr marL="0" indent="0" rtl="0">
              <a:buNone/>
            </a:pPr>
            <a:r>
              <a:rPr lang="pt-BR" dirty="0"/>
              <a:t>• Gerenciamento de consultas</a:t>
            </a:r>
          </a:p>
          <a:p>
            <a:pPr marL="0" indent="0" rtl="0">
              <a:buNone/>
            </a:pPr>
            <a:r>
              <a:rPr lang="pt-BR" dirty="0"/>
              <a:t>• Registro de prontuários</a:t>
            </a:r>
          </a:p>
          <a:p>
            <a:pPr marL="0" indent="0" rtl="0">
              <a:buNone/>
            </a:pPr>
            <a:r>
              <a:rPr lang="pt-BR" dirty="0"/>
              <a:t>• Formulário de contato com os desenvolvedores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00CDC5E-87A8-4E21-807D-E0D1017F2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885" y="1694554"/>
            <a:ext cx="6562795" cy="47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755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Demonstração do Protótipo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50863" y="1953739"/>
            <a:ext cx="5435600" cy="399565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Funcionalidades demonstradas:</a:t>
            </a:r>
          </a:p>
          <a:p>
            <a:pPr rtl="0"/>
            <a:r>
              <a:rPr lang="pt-BR" dirty="0"/>
              <a:t>• Interface principal da solução</a:t>
            </a:r>
          </a:p>
          <a:p>
            <a:pPr rtl="0"/>
            <a:r>
              <a:rPr lang="pt-BR" dirty="0"/>
              <a:t>• Autenticação de usuários</a:t>
            </a:r>
          </a:p>
          <a:p>
            <a:pPr rtl="0"/>
            <a:r>
              <a:rPr lang="pt-BR" dirty="0"/>
              <a:t>• Cadastro e gerenciamento de pacientes</a:t>
            </a:r>
          </a:p>
          <a:p>
            <a:pPr rtl="0"/>
            <a:r>
              <a:rPr lang="pt-BR" dirty="0"/>
              <a:t>• Consulta e pesquisa de informações</a:t>
            </a:r>
          </a:p>
          <a:p>
            <a:pPr rtl="0"/>
            <a:r>
              <a:rPr lang="pt-BR" dirty="0"/>
              <a:t>• Formulário de contato com os desenvolvedores</a:t>
            </a:r>
          </a:p>
          <a:p>
            <a:pPr rtl="0"/>
            <a:r>
              <a:rPr lang="pt-BR" dirty="0"/>
              <a:t>• Publicação do projeto no GitHub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Tecnologias Utilizadas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2326810" cy="3995650"/>
          </a:xfrm>
        </p:spPr>
        <p:txBody>
          <a:bodyPr rtlCol="0">
            <a:normAutofit fontScale="40000" lnSpcReduction="20000"/>
          </a:bodyPr>
          <a:lstStyle>
            <a:defPPr>
              <a:defRPr lang="pt-BR"/>
            </a:defPPr>
          </a:lstStyle>
          <a:p>
            <a:pPr marL="0" lvl="1" indent="0" rtl="0">
              <a:buNone/>
            </a:pPr>
            <a:r>
              <a:rPr lang="pt-BR" sz="6400" dirty="0" err="1"/>
              <a:t>Frontend</a:t>
            </a:r>
            <a:endParaRPr lang="pt-BR" sz="6400" dirty="0"/>
          </a:p>
          <a:p>
            <a:pPr marL="0" lvl="1" indent="0" rtl="0">
              <a:buNone/>
            </a:pPr>
            <a:r>
              <a:rPr lang="pt-BR" sz="6400" dirty="0"/>
              <a:t>• HTML5</a:t>
            </a:r>
          </a:p>
          <a:p>
            <a:pPr marL="0" lvl="1" indent="0" rtl="0">
              <a:buNone/>
            </a:pPr>
            <a:r>
              <a:rPr lang="pt-BR" sz="6400" dirty="0"/>
              <a:t>• CSS3</a:t>
            </a:r>
          </a:p>
          <a:p>
            <a:pPr marL="0" lvl="1" indent="0" rtl="0">
              <a:buNone/>
            </a:pPr>
            <a:r>
              <a:rPr lang="pt-BR" sz="6400" dirty="0"/>
              <a:t>• </a:t>
            </a:r>
            <a:r>
              <a:rPr lang="pt-BR" sz="6400" dirty="0" err="1"/>
              <a:t>JavaScript</a:t>
            </a:r>
            <a:endParaRPr lang="pt-BR" sz="6400" dirty="0"/>
          </a:p>
          <a:p>
            <a:pPr marL="0" lvl="1" indent="0" rtl="0">
              <a:buNone/>
            </a:pPr>
            <a:r>
              <a:rPr lang="pt-BR" sz="6400" dirty="0" err="1"/>
              <a:t>Backend</a:t>
            </a:r>
            <a:endParaRPr lang="pt-BR" sz="6400" dirty="0"/>
          </a:p>
          <a:p>
            <a:pPr marL="0" lvl="1" indent="0" rtl="0">
              <a:buNone/>
            </a:pPr>
            <a:r>
              <a:rPr lang="pt-BR" sz="6400" dirty="0"/>
              <a:t>• Python</a:t>
            </a:r>
          </a:p>
          <a:p>
            <a:pPr marL="0" lvl="1" indent="0" rtl="0">
              <a:buNone/>
            </a:pPr>
            <a:r>
              <a:rPr lang="pt-BR" sz="6400" dirty="0"/>
              <a:t>• </a:t>
            </a:r>
            <a:r>
              <a:rPr lang="pt-BR" sz="6400" dirty="0" err="1"/>
              <a:t>Flask</a:t>
            </a:r>
            <a:endParaRPr lang="pt-BR" dirty="0"/>
          </a:p>
        </p:txBody>
      </p:sp>
      <p:sp>
        <p:nvSpPr>
          <p:cNvPr id="8" name="Espaço Reservado para Conteúdo 5">
            <a:extLst>
              <a:ext uri="{FF2B5EF4-FFF2-40B4-BE49-F238E27FC236}">
                <a16:creationId xmlns:a16="http://schemas.microsoft.com/office/drawing/2014/main" id="{ED606F20-B143-43F8-B7AD-C18311FA0FE5}"/>
              </a:ext>
            </a:extLst>
          </p:cNvPr>
          <p:cNvSpPr txBox="1">
            <a:spLocks/>
          </p:cNvSpPr>
          <p:nvPr/>
        </p:nvSpPr>
        <p:spPr>
          <a:xfrm>
            <a:off x="4118815" y="2097175"/>
            <a:ext cx="2326810" cy="3995650"/>
          </a:xfrm>
          <a:prstGeom prst="rect">
            <a:avLst/>
          </a:prstGeom>
        </p:spPr>
        <p:txBody>
          <a:bodyPr vert="horz" wrap="square" lIns="0" tIns="0" rIns="0" bIns="0" rtlCol="0">
            <a:normAutofit fontScale="40000" lnSpcReduction="20000"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148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pt-BR" sz="6600" dirty="0"/>
              <a:t>Banco de Dados</a:t>
            </a:r>
            <a:br>
              <a:rPr lang="pt-BR" sz="6600" dirty="0"/>
            </a:br>
            <a:r>
              <a:rPr lang="pt-BR" sz="6600" dirty="0"/>
              <a:t>• </a:t>
            </a:r>
            <a:r>
              <a:rPr lang="pt-BR" sz="6600" dirty="0" err="1"/>
              <a:t>SQLite</a:t>
            </a:r>
            <a:br>
              <a:rPr lang="pt-BR" sz="6600" dirty="0"/>
            </a:br>
            <a:br>
              <a:rPr lang="pt-BR" sz="6600" dirty="0"/>
            </a:br>
            <a:r>
              <a:rPr lang="pt-BR" sz="6600" dirty="0"/>
              <a:t>Versionamento</a:t>
            </a:r>
            <a:br>
              <a:rPr lang="pt-BR" sz="6600" dirty="0"/>
            </a:br>
            <a:r>
              <a:rPr lang="pt-BR" sz="6600" dirty="0"/>
              <a:t>• Git</a:t>
            </a:r>
            <a:br>
              <a:rPr lang="pt-BR" sz="6600" dirty="0"/>
            </a:br>
            <a:r>
              <a:rPr lang="pt-BR" sz="6600" dirty="0"/>
              <a:t>• GitHub</a:t>
            </a:r>
            <a:br>
              <a:rPr lang="pt-BR" sz="6600" dirty="0"/>
            </a:br>
            <a:br>
              <a:rPr lang="pt-BR" sz="6600" dirty="0"/>
            </a:br>
            <a:r>
              <a:rPr lang="pt-BR" sz="6600" dirty="0"/>
              <a:t>Modelagem</a:t>
            </a:r>
            <a:br>
              <a:rPr lang="pt-BR" sz="6600" dirty="0"/>
            </a:br>
            <a:r>
              <a:rPr lang="pt-BR" sz="6600" dirty="0"/>
              <a:t>• UML</a:t>
            </a:r>
            <a:br>
              <a:rPr lang="pt-BR" sz="6600" dirty="0"/>
            </a:br>
            <a:r>
              <a:rPr lang="pt-BR" sz="6600" dirty="0"/>
              <a:t>• Modelo Relacional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196900"/>
            <a:ext cx="4899628" cy="914724"/>
          </a:xfrm>
          <a:noFill/>
        </p:spPr>
        <p:txBody>
          <a:bodyPr rtlCol="0" anchor="b"/>
          <a:lstStyle>
            <a:defPPr>
              <a:defRPr lang="pt-BR"/>
            </a:defPPr>
          </a:lstStyle>
          <a:p>
            <a:pPr rtl="0"/>
            <a:r>
              <a:rPr lang="pt-BR" dirty="0"/>
              <a:t>Resultados Obtidos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435" y="1532945"/>
            <a:ext cx="5443689" cy="3845879"/>
          </a:xfrm>
          <a:noFill/>
        </p:spPr>
        <p:txBody>
          <a:bodyPr vert="horz" lIns="91440" tIns="45720" rIns="91440" bIns="45720" rtlCol="0" anchor="t">
            <a:normAutofit fontScale="85000"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✓ Plataforma funcional desenvolvida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✓ Controle de acesso por login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✓ CRUD completo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✓ Consulta e pesquisa de registros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✓ Formulário de contato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✓ Banco de dados estruturado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✓ Projeto publicado no GitHub</a:t>
            </a:r>
          </a:p>
          <a:p>
            <a:pPr rtl="0"/>
            <a:r>
              <a:rPr lang="pt-BR" dirty="0" err="1"/>
              <a:t>GitHub:https</a:t>
            </a:r>
            <a:r>
              <a:rPr lang="pt-BR" dirty="0"/>
              <a:t>://github.com/Lucasschwertz/telemedicina-uml-bd</a:t>
            </a:r>
          </a:p>
          <a:p>
            <a:pPr rtl="0"/>
            <a:endParaRPr lang="pt-BR" dirty="0"/>
          </a:p>
        </p:txBody>
      </p:sp>
      <p:pic>
        <p:nvPicPr>
          <p:cNvPr id="20" name="Espaço Reservado para Imagem 19" descr="Uma imagem ampliada de um gráfico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5"/>
            <a:ext cx="5179330" cy="1082302"/>
          </a:xfrm>
          <a:noFill/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Obrigado!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6" y="2090207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Plataforma de Telemedicina</a:t>
            </a:r>
          </a:p>
          <a:p>
            <a:pPr rtl="0"/>
            <a:r>
              <a:rPr lang="pt-BR" dirty="0"/>
              <a:t>Lucas Schwertz</a:t>
            </a:r>
          </a:p>
          <a:p>
            <a:pPr rtl="0"/>
            <a:r>
              <a:rPr lang="pt-BR" dirty="0"/>
              <a:t>Práticas Extensionistas III</a:t>
            </a:r>
          </a:p>
          <a:p>
            <a:pPr rtl="0"/>
            <a:r>
              <a:rPr lang="pt-BR" dirty="0"/>
              <a:t>UNOESC – 2026</a:t>
            </a:r>
          </a:p>
          <a:p>
            <a:pPr rtl="0"/>
            <a:r>
              <a:rPr lang="pt-BR" dirty="0"/>
              <a:t>Dúvidas?</a:t>
            </a:r>
          </a:p>
        </p:txBody>
      </p:sp>
      <p:pic>
        <p:nvPicPr>
          <p:cNvPr id="25" name="Espaço Reservado para Imagem 24" descr="Imagem ampliada de uma rede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43_TF33713516_Win32" id="{381BE384-4E88-40D9-BE21-FE65AFA21B4D}" vid="{52A1BC7B-5E05-4786-AE3A-7C32E2BD0D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Design flutuante 3D</Template>
  <TotalTime>55</TotalTime>
  <Words>503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Walbaum Display</vt:lpstr>
      <vt:lpstr>3DFloatVTI</vt:lpstr>
      <vt:lpstr>Plataforma de Telemedicina  Práticas Extensionistas III Entrega Final do Projeto  Lucas Schwertz Análise e Desenvolvimento de Sistemas - UNOESC 2026</vt:lpstr>
      <vt:lpstr>Problema Identificado</vt:lpstr>
      <vt:lpstr>Solução Proposta</vt:lpstr>
      <vt:lpstr>Estrutura do Banco de Dados</vt:lpstr>
      <vt:lpstr>Diagrama de Caso de Uso</vt:lpstr>
      <vt:lpstr>Funcionalidades da Plataforma</vt:lpstr>
      <vt:lpstr>Demonstração do Protótipo</vt:lpstr>
      <vt:lpstr>Tecnologias Utilizadas</vt:lpstr>
      <vt:lpstr>Resultados Obtidos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Telemedicina  Práticas Extensionistas III Entrega Final do Projeto  Lucas Schwertz Análise e Desenvolvimento de Sistemas - UNOESC 2026</dc:title>
  <dc:creator>lucas schwertz</dc:creator>
  <cp:lastModifiedBy>lucas schwertz</cp:lastModifiedBy>
  <cp:revision>6</cp:revision>
  <dcterms:created xsi:type="dcterms:W3CDTF">2026-06-06T17:49:16Z</dcterms:created>
  <dcterms:modified xsi:type="dcterms:W3CDTF">2026-06-06T19:02:38Z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